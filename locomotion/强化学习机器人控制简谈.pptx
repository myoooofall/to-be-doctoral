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8" r:id="rId4"/>
    <p:sldId id="260" r:id="rId5"/>
    <p:sldId id="257" r:id="rId6"/>
    <p:sldId id="259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1.png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7.xml"/><Relationship Id="rId3" Type="http://schemas.openxmlformats.org/officeDocument/2006/relationships/image" Target="../media/image2.pn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ym typeface="+mn-ea"/>
              </a:rPr>
              <a:t>强化学习机器人控制简谈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——</a:t>
            </a:r>
            <a:r>
              <a:rPr lang="zh-CN" altLang="en-US">
                <a:sym typeface="+mn-ea"/>
              </a:rPr>
              <a:t>以</a:t>
            </a:r>
            <a:r>
              <a:rPr lang="en-US" altLang="zh-CN">
                <a:sym typeface="+mn-ea"/>
              </a:rPr>
              <a:t>ppo</a:t>
            </a:r>
            <a:r>
              <a:rPr lang="zh-CN" altLang="en-US">
                <a:sym typeface="+mn-ea"/>
              </a:rPr>
              <a:t>为例</a:t>
            </a:r>
            <a:r>
              <a:rPr lang="en-US" altLang="zh-CN">
                <a:sym typeface="+mn-ea"/>
              </a:rPr>
              <a:t> </a:t>
            </a:r>
            <a:endParaRPr lang="zh-CN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0280" y="160090"/>
            <a:ext cx="10969200" cy="705600"/>
          </a:xfrm>
        </p:spPr>
        <p:txBody>
          <a:bodyPr>
            <a:normAutofit/>
          </a:bodyPr>
          <a:p>
            <a:r>
              <a:rPr lang="en-US" altLang="zh-CN"/>
              <a:t>why ppo？（</a:t>
            </a:r>
            <a:r>
              <a:rPr lang="zh-CN" altLang="en-US"/>
              <a:t>不同方法</a:t>
            </a:r>
            <a:r>
              <a:rPr lang="en-US" altLang="zh-CN"/>
              <a:t> </a:t>
            </a:r>
            <a:r>
              <a:rPr lang="zh-CN" altLang="en-US"/>
              <a:t>都有自己的适用范围</a:t>
            </a:r>
            <a:r>
              <a:rPr lang="en-US" altLang="zh-CN"/>
              <a:t> 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94005" y="865505"/>
            <a:ext cx="11583670" cy="587629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强化学习的方法众多</a:t>
            </a:r>
            <a:r>
              <a:rPr lang="en-US" altLang="zh-CN"/>
              <a:t> </a:t>
            </a:r>
            <a:r>
              <a:rPr lang="zh-CN" altLang="en-US"/>
              <a:t>但本质类似</a:t>
            </a:r>
            <a:r>
              <a:rPr lang="en-US" altLang="zh-CN"/>
              <a:t>：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智能体在环境中根据当前观测 </a:t>
            </a:r>
            <a:r>
              <a:rPr lang="en-US" altLang="zh-CN"/>
              <a:t>observation </a:t>
            </a:r>
            <a:r>
              <a:rPr lang="zh-CN" altLang="en-US"/>
              <a:t>输出动作 </a:t>
            </a:r>
            <a:r>
              <a:rPr lang="en-US" altLang="zh-CN"/>
              <a:t>action，</a:t>
            </a:r>
            <a:r>
              <a:rPr lang="zh-CN" altLang="en-US"/>
              <a:t>环境返回新的状态和奖励 </a:t>
            </a:r>
            <a:r>
              <a:rPr lang="en-US" altLang="zh-CN"/>
              <a:t>reward。</a:t>
            </a:r>
            <a:r>
              <a:rPr lang="zh-CN" altLang="en-US"/>
              <a:t>算法通过不断采样交互数据，估计动作带来的长期价值，并更新策略，使累计奖励最大化。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大致可以分三类</a:t>
            </a:r>
            <a:r>
              <a:rPr lang="en-US" altLang="zh-CN"/>
              <a:t>：</a:t>
            </a:r>
            <a:endParaRPr lang="zh-CN" altLang="en-US"/>
          </a:p>
          <a:p>
            <a:r>
              <a:rPr lang="en-US" altLang="zh-CN"/>
              <a:t>Value-based methods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学习价值函数，例如 </a:t>
            </a:r>
            <a:r>
              <a:rPr lang="en-US" altLang="zh-CN"/>
              <a:t>Q(s, a)，</a:t>
            </a:r>
            <a:r>
              <a:rPr lang="zh-CN" altLang="en-US"/>
              <a:t>再选择价值最高的动作。代表方法是 </a:t>
            </a:r>
            <a:r>
              <a:rPr lang="en-US" altLang="zh-CN"/>
              <a:t>DQN。</a:t>
            </a:r>
            <a:r>
              <a:rPr lang="zh-CN" altLang="en-US"/>
              <a:t>适合离散动作任务，但在机器人连续高维控制中，直接最大化 </a:t>
            </a:r>
            <a:r>
              <a:rPr lang="en-US" altLang="zh-CN"/>
              <a:t>Q(s, a) </a:t>
            </a:r>
            <a:r>
              <a:rPr lang="zh-CN" altLang="en-US"/>
              <a:t>比较困难。</a:t>
            </a:r>
            <a:r>
              <a:rPr lang="en-US" altLang="zh-CN"/>
              <a:t> </a:t>
            </a:r>
            <a:endParaRPr lang="en-US" altLang="zh-CN"/>
          </a:p>
          <a:p>
            <a:r>
              <a:rPr lang="en-US" altLang="zh-CN"/>
              <a:t>Policy-based methods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直接学习策略 </a:t>
            </a:r>
            <a:r>
              <a:rPr lang="en-US" altLang="zh-CN"/>
              <a:t>π(a|s)，</a:t>
            </a:r>
            <a:r>
              <a:rPr lang="zh-CN" altLang="en-US"/>
              <a:t>由网络根据观测输出动作。适合连续控制，但纯 </a:t>
            </a:r>
            <a:r>
              <a:rPr lang="en-US" altLang="zh-CN"/>
              <a:t>policy gradient </a:t>
            </a:r>
            <a:r>
              <a:rPr lang="zh-CN" altLang="en-US"/>
              <a:t>往往方差较大，训练不够稳定。</a:t>
            </a:r>
            <a:r>
              <a:rPr lang="en-US" altLang="zh-CN"/>
              <a:t>（</a:t>
            </a:r>
            <a:r>
              <a:rPr lang="zh-CN" altLang="en-US"/>
              <a:t>尤其在机器人长时序任务中，很难判断某一步动作对最终成功或失败的具体贡献。</a:t>
            </a:r>
            <a:r>
              <a:rPr lang="en-US" altLang="zh-CN"/>
              <a:t>）</a:t>
            </a:r>
            <a:endParaRPr lang="en-US" altLang="zh-CN"/>
          </a:p>
          <a:p>
            <a:r>
              <a:rPr lang="en-US" altLang="zh-CN"/>
              <a:t>Actor-Critic methods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结合前两者：</a:t>
            </a:r>
            <a:r>
              <a:rPr lang="en-US" altLang="zh-CN"/>
              <a:t>Actor </a:t>
            </a:r>
            <a:r>
              <a:rPr lang="zh-CN" altLang="en-US"/>
              <a:t>输出动作，</a:t>
            </a:r>
            <a:r>
              <a:rPr lang="en-US" altLang="zh-CN"/>
              <a:t>Critic </a:t>
            </a:r>
            <a:r>
              <a:rPr lang="zh-CN" altLang="en-US"/>
              <a:t>估计价值并提供更稳定的学习信号。它既适合连续动作，又能降低训练方差，因此在机器人强化学习中非常常见。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zh-CN"/>
              <a:t>PPO </a:t>
            </a:r>
            <a:r>
              <a:rPr lang="zh-CN" altLang="en-US"/>
              <a:t>是一种典型的 </a:t>
            </a:r>
            <a:r>
              <a:rPr lang="en-US" altLang="zh-CN"/>
              <a:t>Actor-Critic </a:t>
            </a:r>
            <a:r>
              <a:rPr lang="zh-CN" altLang="en-US"/>
              <a:t>方法，通过限制每次策略更新幅度，使训练更加稳定，因此常被用于机器人连续控制任务。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rl</a:t>
            </a:r>
            <a:r>
              <a:rPr lang="zh-CN" altLang="en-US"/>
              <a:t>领域，目前很多复杂的任务</a:t>
            </a:r>
            <a:r>
              <a:rPr lang="en-US" altLang="zh-CN"/>
              <a:t>，</a:t>
            </a:r>
            <a:r>
              <a:rPr lang="zh-CN" altLang="en-US"/>
              <a:t>现有方法还是处理不了</a:t>
            </a:r>
            <a:r>
              <a:rPr lang="en-US" altLang="zh-CN"/>
              <a:t>，</a:t>
            </a:r>
            <a:r>
              <a:rPr lang="zh-CN" altLang="en-US"/>
              <a:t>诸如</a:t>
            </a:r>
            <a:r>
              <a:rPr lang="en-US" altLang="zh-CN"/>
              <a:t> </a:t>
            </a:r>
            <a:r>
              <a:rPr lang="zh-CN" altLang="en-US"/>
              <a:t>局部最优问题</a:t>
            </a:r>
            <a:r>
              <a:rPr lang="en-US" altLang="zh-CN"/>
              <a:t>，</a:t>
            </a:r>
            <a:r>
              <a:rPr lang="zh-CN" altLang="en-US"/>
              <a:t>部分可观难以解决全局问题</a:t>
            </a:r>
            <a:r>
              <a:rPr lang="en-US" altLang="zh-CN"/>
              <a:t>， </a:t>
            </a:r>
            <a:r>
              <a:rPr lang="zh-CN" altLang="en-US"/>
              <a:t>任务难度大</a:t>
            </a:r>
            <a:r>
              <a:rPr lang="en-US" altLang="zh-CN"/>
              <a:t> </a:t>
            </a:r>
            <a:r>
              <a:rPr lang="zh-CN" altLang="en-US"/>
              <a:t>探索效率低</a:t>
            </a:r>
            <a:r>
              <a:rPr lang="en-US" altLang="zh-CN"/>
              <a:t> </a:t>
            </a:r>
            <a:r>
              <a:rPr lang="zh-CN" altLang="en-US"/>
              <a:t>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不断的有做</a:t>
            </a:r>
            <a:r>
              <a:rPr lang="en-US" altLang="zh-CN"/>
              <a:t>learning theory</a:t>
            </a:r>
            <a:r>
              <a:rPr lang="zh-CN" altLang="en-US"/>
              <a:t>的人在尝试从算法层面解决这些问题</a:t>
            </a:r>
            <a:r>
              <a:rPr lang="en-US" altLang="zh-CN"/>
              <a:t>，</a:t>
            </a:r>
            <a:r>
              <a:rPr lang="zh-CN" altLang="en-US"/>
              <a:t>比较数学比较理论</a:t>
            </a:r>
            <a:r>
              <a:rPr lang="en-US" altLang="zh-CN"/>
              <a:t>，（</a:t>
            </a:r>
            <a:r>
              <a:rPr lang="zh-CN" altLang="en-US"/>
              <a:t>但目前还没有非常广泛认可的显著超越</a:t>
            </a:r>
            <a:r>
              <a:rPr lang="en-US" altLang="zh-CN"/>
              <a:t>ppo</a:t>
            </a:r>
            <a:r>
              <a:rPr lang="zh-CN" altLang="en-US"/>
              <a:t>的方法</a:t>
            </a:r>
            <a:r>
              <a:rPr lang="en-US" altLang="zh-CN"/>
              <a:t>）</a:t>
            </a:r>
            <a:r>
              <a:rPr lang="zh-CN" altLang="en-US"/>
              <a:t>总而言之</a:t>
            </a:r>
            <a:r>
              <a:rPr lang="en-US" altLang="zh-CN"/>
              <a:t>ppo</a:t>
            </a:r>
            <a:r>
              <a:rPr lang="zh-CN" altLang="en-US"/>
              <a:t>仍然是一个稳定且核心的</a:t>
            </a:r>
            <a:r>
              <a:rPr lang="zh-CN" altLang="en-US"/>
              <a:t>方法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robotics</a:t>
            </a:r>
            <a:r>
              <a:rPr lang="zh-CN" altLang="en-US"/>
              <a:t>领域</a:t>
            </a:r>
            <a:r>
              <a:rPr lang="en-US" altLang="zh-CN"/>
              <a:t>，</a:t>
            </a:r>
            <a:r>
              <a:rPr lang="zh-CN" altLang="en-US"/>
              <a:t>大家往往还是在 </a:t>
            </a:r>
            <a:r>
              <a:rPr lang="en-US" altLang="zh-CN"/>
              <a:t>observation、reward、curriculum、privileged information </a:t>
            </a:r>
            <a:r>
              <a:rPr lang="zh-CN" altLang="en-US"/>
              <a:t>包括控制架构上做文章。</a:t>
            </a:r>
            <a:r>
              <a:rPr lang="en-US" altLang="zh-CN"/>
              <a:t> （</a:t>
            </a:r>
            <a:r>
              <a:rPr lang="zh-CN" altLang="en-US"/>
              <a:t>当然</a:t>
            </a:r>
            <a:r>
              <a:rPr lang="en-US" altLang="zh-CN"/>
              <a:t>RL algorithm</a:t>
            </a:r>
            <a:r>
              <a:rPr lang="zh-CN" altLang="en-US"/>
              <a:t>层面也有</a:t>
            </a:r>
            <a:r>
              <a:rPr lang="en-US" altLang="zh-CN"/>
              <a:t> </a:t>
            </a:r>
            <a:r>
              <a:rPr lang="zh-CN" altLang="en-US"/>
              <a:t>比如在策略更新上加入更多数学约束</a:t>
            </a:r>
            <a:r>
              <a:rPr lang="en-US" altLang="zh-CN"/>
              <a:t> ）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43275" y="342970"/>
            <a:ext cx="10969200" cy="70560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观测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输出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reward </a:t>
            </a:r>
            <a:r>
              <a:rPr lang="en-US" altLang="zh-CN"/>
              <a:t>shaping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完整框架与经典</a:t>
            </a:r>
            <a:r>
              <a:rPr lang="zh-CN" altLang="en-US"/>
              <a:t>应用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189300"/>
            <a:ext cx="10969200" cy="705600"/>
          </a:xfrm>
        </p:spPr>
        <p:txBody>
          <a:bodyPr/>
          <a:p>
            <a:r>
              <a:rPr lang="zh-CN" altLang="en-US"/>
              <a:t>输出</a:t>
            </a:r>
            <a:r>
              <a:rPr lang="en-US" altLang="zh-CN"/>
              <a:t> （action </a:t>
            </a:r>
            <a:r>
              <a:rPr lang="en-US" altLang="zh-CN"/>
              <a:t>output）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894715"/>
            <a:ext cx="11377295" cy="521906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en-US"/>
              <a:t>在机器人控制领域</a:t>
            </a:r>
            <a:r>
              <a:rPr lang="en-US" altLang="zh-CN"/>
              <a:t> </a:t>
            </a:r>
            <a:r>
              <a:rPr lang="zh-CN" altLang="en-US"/>
              <a:t>输出非常直观</a:t>
            </a:r>
            <a:r>
              <a:rPr lang="en-US" altLang="zh-CN"/>
              <a:t> </a:t>
            </a:r>
            <a:r>
              <a:rPr lang="zh-CN" altLang="en-US"/>
              <a:t>也就是</a:t>
            </a:r>
            <a:r>
              <a:rPr lang="en-US" altLang="zh-CN"/>
              <a:t>actor</a:t>
            </a:r>
            <a:r>
              <a:rPr lang="zh-CN" altLang="en-US"/>
              <a:t>网络的输出值</a:t>
            </a:r>
            <a:r>
              <a:rPr lang="en-US" altLang="zh-CN"/>
              <a:t> </a:t>
            </a:r>
            <a:r>
              <a:rPr lang="zh-CN" altLang="en-US"/>
              <a:t>也就是</a:t>
            </a:r>
            <a:r>
              <a:rPr lang="zh-CN" altLang="en-US">
                <a:solidFill>
                  <a:srgbClr val="FF0000"/>
                </a:solidFill>
              </a:rPr>
              <a:t>网络学到了什么动作</a:t>
            </a:r>
            <a:r>
              <a:rPr lang="en-US" altLang="zh-CN">
                <a:solidFill>
                  <a:srgbClr val="FF0000"/>
                </a:solidFill>
              </a:rPr>
              <a:t>，</a:t>
            </a:r>
            <a:r>
              <a:rPr lang="zh-CN" altLang="en-US">
                <a:solidFill>
                  <a:schemeClr val="tx1"/>
                </a:solidFill>
              </a:rPr>
              <a:t>一般来说</a:t>
            </a:r>
            <a:r>
              <a:rPr lang="en-US" altLang="zh-CN">
                <a:solidFill>
                  <a:srgbClr val="FF0000"/>
                </a:solidFill>
              </a:rPr>
              <a:t>，actor</a:t>
            </a:r>
            <a:r>
              <a:rPr lang="zh-CN" altLang="en-US">
                <a:solidFill>
                  <a:srgbClr val="FF0000"/>
                </a:solidFill>
              </a:rPr>
              <a:t>网络学习一个高斯分布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正态采样动作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endParaRPr lang="zh-CN" altLang="en-US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例</a:t>
            </a:r>
            <a:r>
              <a:rPr lang="en-US" altLang="zh-CN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输出力矩</a:t>
            </a:r>
            <a:r>
              <a:rPr lang="en-US" altLang="zh-CN">
                <a:solidFill>
                  <a:schemeClr val="tx1"/>
                </a:solidFill>
              </a:rPr>
              <a:t>，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输出期望电机位置</a:t>
            </a:r>
            <a:r>
              <a:rPr lang="en-US" altLang="zh-CN">
                <a:solidFill>
                  <a:schemeClr val="tx1"/>
                </a:solidFill>
              </a:rPr>
              <a:t> -&gt; pd </a:t>
            </a:r>
            <a:r>
              <a:rPr lang="zh-CN" altLang="en-US">
                <a:solidFill>
                  <a:schemeClr val="tx1"/>
                </a:solidFill>
              </a:rPr>
              <a:t>控制得到电机</a:t>
            </a:r>
            <a:r>
              <a:rPr lang="zh-CN" altLang="en-US">
                <a:solidFill>
                  <a:schemeClr val="tx1"/>
                </a:solidFill>
              </a:rPr>
              <a:t>力矩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输出机器人期望速度</a:t>
            </a:r>
            <a:r>
              <a:rPr lang="en-US" altLang="zh-CN">
                <a:solidFill>
                  <a:schemeClr val="tx1"/>
                </a:solidFill>
              </a:rPr>
              <a:t> -&gt; </a:t>
            </a:r>
            <a:r>
              <a:rPr lang="zh-CN" altLang="en-US">
                <a:solidFill>
                  <a:schemeClr val="tx1"/>
                </a:solidFill>
              </a:rPr>
              <a:t>动力学解算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期望速度下每个电机的</a:t>
            </a:r>
            <a:r>
              <a:rPr lang="zh-CN" altLang="en-US">
                <a:solidFill>
                  <a:schemeClr val="tx1"/>
                </a:solidFill>
              </a:rPr>
              <a:t>速度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>
                <a:solidFill>
                  <a:schemeClr val="tx1"/>
                </a:solidFill>
              </a:rPr>
              <a:t>表示整个</a:t>
            </a:r>
            <a:r>
              <a:rPr lang="en-US" altLang="zh-CN">
                <a:solidFill>
                  <a:schemeClr val="tx1"/>
                </a:solidFill>
              </a:rPr>
              <a:t>learning for control </a:t>
            </a:r>
            <a:r>
              <a:rPr lang="zh-CN" altLang="en-US">
                <a:solidFill>
                  <a:schemeClr val="tx1"/>
                </a:solidFill>
              </a:rPr>
              <a:t>套在了一个怎样的控制框架上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直接式</a:t>
            </a:r>
            <a:r>
              <a:rPr lang="en-US" altLang="zh-CN">
                <a:solidFill>
                  <a:schemeClr val="tx1"/>
                </a:solidFill>
              </a:rPr>
              <a:t>： </a:t>
            </a:r>
            <a:r>
              <a:rPr lang="zh-CN" altLang="en-US">
                <a:solidFill>
                  <a:schemeClr val="tx1"/>
                </a:solidFill>
              </a:rPr>
              <a:t>直接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输出期望</a:t>
            </a:r>
            <a:r>
              <a:rPr lang="zh-CN" altLang="en-US">
                <a:solidFill>
                  <a:schemeClr val="tx1"/>
                </a:solidFill>
              </a:rPr>
              <a:t>值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增量式</a:t>
            </a:r>
            <a:r>
              <a:rPr lang="en-US" altLang="zh-CN">
                <a:solidFill>
                  <a:schemeClr val="tx1"/>
                </a:solidFill>
              </a:rPr>
              <a:t>： </a:t>
            </a:r>
            <a:r>
              <a:rPr lang="zh-CN" altLang="en-US">
                <a:solidFill>
                  <a:schemeClr val="tx1"/>
                </a:solidFill>
              </a:rPr>
              <a:t>输出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一个增量</a:t>
            </a:r>
            <a:r>
              <a:rPr lang="en-US" altLang="zh-CN">
                <a:solidFill>
                  <a:schemeClr val="tx1"/>
                </a:solidFill>
              </a:rPr>
              <a:t>a </a:t>
            </a:r>
            <a:r>
              <a:rPr lang="zh-CN" altLang="en-US">
                <a:solidFill>
                  <a:schemeClr val="tx1"/>
                </a:solidFill>
              </a:rPr>
              <a:t>即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目标电机位置</a:t>
            </a:r>
            <a:r>
              <a:rPr lang="en-US" altLang="zh-CN">
                <a:solidFill>
                  <a:schemeClr val="tx1"/>
                </a:solidFill>
              </a:rPr>
              <a:t> = </a:t>
            </a:r>
            <a:r>
              <a:rPr lang="zh-CN" altLang="en-US">
                <a:solidFill>
                  <a:schemeClr val="tx1"/>
                </a:solidFill>
              </a:rPr>
              <a:t>此时位置</a:t>
            </a:r>
            <a:r>
              <a:rPr lang="en-US" altLang="zh-CN">
                <a:solidFill>
                  <a:schemeClr val="tx1"/>
                </a:solidFill>
              </a:rPr>
              <a:t>+ </a:t>
            </a:r>
            <a:r>
              <a:rPr lang="zh-CN" altLang="en-US">
                <a:solidFill>
                  <a:schemeClr val="tx1"/>
                </a:solidFill>
              </a:rPr>
              <a:t>增量</a:t>
            </a:r>
            <a:r>
              <a:rPr lang="en-US" altLang="zh-CN">
                <a:solidFill>
                  <a:schemeClr val="tx1"/>
                </a:solidFill>
              </a:rPr>
              <a:t>a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/>
              <a:t>额外处理</a:t>
            </a:r>
            <a:r>
              <a:rPr lang="en-US" altLang="zh-CN"/>
              <a:t>： </a:t>
            </a:r>
            <a:r>
              <a:rPr lang="zh-CN" altLang="en-US"/>
              <a:t>如</a:t>
            </a:r>
            <a:r>
              <a:rPr lang="en-US" altLang="zh-CN"/>
              <a:t>rl train </a:t>
            </a:r>
            <a:r>
              <a:rPr lang="zh-CN" altLang="en-US"/>
              <a:t>机械臂</a:t>
            </a:r>
            <a:r>
              <a:rPr lang="en-US" altLang="zh-CN"/>
              <a:t> </a:t>
            </a:r>
            <a:r>
              <a:rPr lang="zh-CN" altLang="en-US"/>
              <a:t>加入重力补偿的</a:t>
            </a:r>
            <a:r>
              <a:rPr lang="zh-CN" altLang="en-US"/>
              <a:t>前馈</a:t>
            </a:r>
            <a:endParaRPr lang="zh-CN" altLang="en-US"/>
          </a:p>
          <a:p>
            <a:pPr marL="914400" lvl="2" indent="0">
              <a:buNone/>
            </a:pPr>
            <a:r>
              <a:rPr lang="en-US" altLang="zh-CN" sz="1800"/>
              <a:t>     训练运动控制 加入 电机增量的后处理</a:t>
            </a:r>
            <a:r>
              <a:rPr lang="zh-CN" altLang="en-US" sz="1800"/>
              <a:t>这些</a:t>
            </a:r>
            <a:r>
              <a:rPr lang="en-US" altLang="zh-CN" sz="1800"/>
              <a:t>trick</a:t>
            </a:r>
            <a:endParaRPr lang="en-US" altLang="zh-CN" sz="1800"/>
          </a:p>
          <a:p>
            <a:pPr marL="914400" lvl="2" indent="0">
              <a:buNone/>
            </a:pPr>
            <a:endParaRPr lang="zh-CN" altLang="en-US" sz="1800"/>
          </a:p>
        </p:txBody>
      </p:sp>
      <p:sp>
        <p:nvSpPr>
          <p:cNvPr id="4" name="文本框 3"/>
          <p:cNvSpPr txBox="1"/>
          <p:nvPr/>
        </p:nvSpPr>
        <p:spPr>
          <a:xfrm>
            <a:off x="764540" y="6174105"/>
            <a:ext cx="8569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对输出的不同处理</a:t>
            </a:r>
            <a:r>
              <a:rPr lang="en-US" altLang="zh-CN"/>
              <a:t> </a:t>
            </a:r>
            <a:r>
              <a:rPr lang="zh-CN" altLang="en-US"/>
              <a:t>影响了</a:t>
            </a:r>
            <a:r>
              <a:rPr lang="en-US" altLang="zh-CN"/>
              <a:t>actor</a:t>
            </a:r>
            <a:r>
              <a:rPr lang="zh-CN" altLang="en-US"/>
              <a:t>的学习难度</a:t>
            </a:r>
            <a:r>
              <a:rPr lang="en-US" altLang="zh-CN"/>
              <a:t>  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35985"/>
            <a:ext cx="10969200" cy="705600"/>
          </a:xfrm>
        </p:spPr>
        <p:txBody>
          <a:bodyPr/>
          <a:p>
            <a:r>
              <a:rPr lang="zh-CN" altLang="en-US"/>
              <a:t>观测</a:t>
            </a:r>
            <a:r>
              <a:rPr lang="en-US" altLang="zh-CN"/>
              <a:t> （</a:t>
            </a:r>
            <a:r>
              <a:rPr lang="en-US" altLang="zh-CN"/>
              <a:t>observation）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041400"/>
            <a:ext cx="11461750" cy="5523865"/>
          </a:xfrm>
        </p:spPr>
        <p:txBody>
          <a:bodyPr>
            <a:normAutofit lnSpcReduction="10000"/>
          </a:bodyPr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按照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物理意义定义</a:t>
            </a:r>
            <a:r>
              <a:rPr lang="en-US" altLang="zh-CN">
                <a:solidFill>
                  <a:srgbClr val="FF0000"/>
                </a:solidFill>
              </a:rPr>
              <a:t>：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/>
              <a:t>本体观测</a:t>
            </a:r>
            <a:r>
              <a:rPr lang="en-US" altLang="zh-CN"/>
              <a:t> （</a:t>
            </a:r>
            <a:r>
              <a:rPr lang="zh-CN" altLang="en-US"/>
              <a:t>获取机器人本身状态</a:t>
            </a:r>
            <a:r>
              <a:rPr lang="en-US" altLang="zh-CN"/>
              <a:t>  </a:t>
            </a:r>
            <a:r>
              <a:rPr lang="zh-CN" altLang="en-US"/>
              <a:t>编码器信息</a:t>
            </a:r>
            <a:r>
              <a:rPr lang="en-US" altLang="zh-CN"/>
              <a:t> imu</a:t>
            </a:r>
            <a:r>
              <a:rPr lang="zh-CN" altLang="en-US"/>
              <a:t>信息</a:t>
            </a:r>
            <a:r>
              <a:rPr lang="en-US" altLang="zh-CN"/>
              <a:t> </a:t>
            </a:r>
            <a:r>
              <a:rPr lang="zh-CN" altLang="en-US"/>
              <a:t>深度计</a:t>
            </a:r>
            <a:r>
              <a:rPr lang="en-US" altLang="zh-CN"/>
              <a:t>）</a:t>
            </a:r>
            <a:endParaRPr lang="en-US" altLang="zh-CN"/>
          </a:p>
          <a:p>
            <a:r>
              <a:rPr lang="zh-CN" altLang="en-US"/>
              <a:t>外部观测</a:t>
            </a:r>
            <a:r>
              <a:rPr lang="en-US" altLang="zh-CN"/>
              <a:t> （</a:t>
            </a:r>
            <a:r>
              <a:rPr lang="zh-CN" altLang="en-US"/>
              <a:t>获取环境状态</a:t>
            </a:r>
            <a:r>
              <a:rPr lang="en-US" altLang="zh-CN"/>
              <a:t>  </a:t>
            </a:r>
            <a:r>
              <a:rPr lang="zh-CN" altLang="en-US"/>
              <a:t>相机</a:t>
            </a:r>
            <a:r>
              <a:rPr lang="en-US" altLang="zh-CN"/>
              <a:t> rgb depth ；</a:t>
            </a:r>
            <a:r>
              <a:rPr lang="zh-CN" altLang="en-US"/>
              <a:t>雷达</a:t>
            </a:r>
            <a:r>
              <a:rPr lang="en-US" altLang="zh-CN"/>
              <a:t> ； </a:t>
            </a:r>
            <a:r>
              <a:rPr lang="zh-CN" altLang="en-US"/>
              <a:t>声纳</a:t>
            </a:r>
            <a:r>
              <a:rPr lang="en-US" altLang="zh-CN"/>
              <a:t> ； ）</a:t>
            </a:r>
            <a:endParaRPr lang="en-US" altLang="zh-CN"/>
          </a:p>
          <a:p>
            <a:pPr marL="0" indent="0">
              <a:buNone/>
            </a:pPr>
            <a:r>
              <a:rPr lang="zh-CN" altLang="en-US">
                <a:solidFill>
                  <a:srgbClr val="FF0000"/>
                </a:solidFill>
              </a:rPr>
              <a:t>按照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任务需求分析</a:t>
            </a:r>
            <a:r>
              <a:rPr lang="en-US" altLang="zh-CN">
                <a:solidFill>
                  <a:srgbClr val="FF0000"/>
                </a:solidFill>
              </a:rPr>
              <a:t>：</a:t>
            </a:r>
            <a:endParaRPr lang="en-US" altLang="zh-CN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/>
              <a:t>全局观测</a:t>
            </a:r>
            <a:r>
              <a:rPr lang="en-US" altLang="zh-CN"/>
              <a:t>：</a:t>
            </a:r>
            <a:r>
              <a:rPr lang="zh-CN" altLang="en-US"/>
              <a:t>完成这个任务所需要的全部观测</a:t>
            </a:r>
            <a:r>
              <a:rPr lang="en-US" altLang="zh-CN"/>
              <a:t> （</a:t>
            </a:r>
            <a:r>
              <a:rPr lang="zh-CN" altLang="en-US"/>
              <a:t>例如</a:t>
            </a:r>
            <a:r>
              <a:rPr lang="en-US" altLang="zh-CN"/>
              <a:t> </a:t>
            </a:r>
            <a:r>
              <a:rPr lang="zh-CN" altLang="en-US"/>
              <a:t>导航时的全局地图</a:t>
            </a:r>
            <a:r>
              <a:rPr lang="en-US" altLang="zh-CN"/>
              <a:t> </a:t>
            </a:r>
            <a:r>
              <a:rPr lang="zh-CN" altLang="en-US"/>
              <a:t>水下跟踪目标时的目标实时位置</a:t>
            </a:r>
            <a:r>
              <a:rPr lang="en-US" altLang="zh-CN"/>
              <a:t> </a:t>
            </a:r>
            <a:r>
              <a:rPr lang="zh-CN" altLang="en-US"/>
              <a:t>这些在现实世界往往不易获取</a:t>
            </a:r>
            <a:r>
              <a:rPr lang="en-US" altLang="zh-CN"/>
              <a:t> </a:t>
            </a:r>
            <a:r>
              <a:rPr lang="zh-CN" altLang="en-US"/>
              <a:t>依赖动捕</a:t>
            </a:r>
            <a:r>
              <a:rPr lang="en-US" altLang="zh-CN"/>
              <a:t> slam</a:t>
            </a:r>
            <a:r>
              <a:rPr lang="zh-CN" altLang="en-US"/>
              <a:t>建图</a:t>
            </a:r>
            <a:r>
              <a:rPr lang="en-US" altLang="zh-CN"/>
              <a:t> or</a:t>
            </a:r>
            <a:r>
              <a:rPr lang="zh-CN" altLang="en-US"/>
              <a:t>……</a:t>
            </a:r>
            <a:r>
              <a:rPr lang="en-US" altLang="zh-CN"/>
              <a:t>）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部分观测</a:t>
            </a:r>
            <a:r>
              <a:rPr lang="en-US" altLang="zh-CN"/>
              <a:t>： </a:t>
            </a:r>
            <a:r>
              <a:rPr lang="zh-CN" altLang="en-US"/>
              <a:t>此处可以理解为</a:t>
            </a:r>
            <a:r>
              <a:rPr lang="en-US" altLang="zh-CN"/>
              <a:t> actor</a:t>
            </a:r>
            <a:r>
              <a:rPr lang="zh-CN" altLang="en-US"/>
              <a:t>能够获取到的实际观测</a:t>
            </a:r>
            <a:r>
              <a:rPr lang="en-US" altLang="zh-CN"/>
              <a:t> </a:t>
            </a:r>
            <a:r>
              <a:rPr lang="zh-CN" altLang="en-US"/>
              <a:t>包括本体感知与外部观测等</a:t>
            </a:r>
            <a:r>
              <a:rPr lang="en-US" altLang="zh-CN"/>
              <a:t> </a:t>
            </a:r>
            <a:endParaRPr lang="en-US" altLang="zh-CN"/>
          </a:p>
          <a:p>
            <a:pPr marL="0" indent="0">
              <a:buNone/>
            </a:pPr>
            <a:r>
              <a:rPr lang="zh-CN" altLang="en-US">
                <a:solidFill>
                  <a:schemeClr val="accent2"/>
                </a:solidFill>
              </a:rPr>
              <a:t>在实际任务中</a:t>
            </a:r>
            <a:r>
              <a:rPr lang="en-US" altLang="zh-CN">
                <a:solidFill>
                  <a:schemeClr val="accent2"/>
                </a:solidFill>
              </a:rPr>
              <a:t>，</a:t>
            </a:r>
            <a:r>
              <a:rPr lang="zh-CN" altLang="en-US">
                <a:solidFill>
                  <a:schemeClr val="accent2"/>
                </a:solidFill>
              </a:rPr>
              <a:t>我们往往无法获取全部观测</a:t>
            </a:r>
            <a:r>
              <a:rPr lang="en-US" altLang="zh-CN">
                <a:solidFill>
                  <a:schemeClr val="accent2"/>
                </a:solidFill>
              </a:rPr>
              <a:t>，</a:t>
            </a:r>
            <a:r>
              <a:rPr lang="zh-CN" altLang="en-US">
                <a:solidFill>
                  <a:schemeClr val="accent2"/>
                </a:solidFill>
              </a:rPr>
              <a:t>部分观测是常态</a:t>
            </a:r>
            <a:r>
              <a:rPr lang="en-US" altLang="zh-CN">
                <a:solidFill>
                  <a:schemeClr val="accent2"/>
                </a:solidFill>
              </a:rPr>
              <a:t>，</a:t>
            </a:r>
            <a:r>
              <a:rPr lang="zh-CN" altLang="en-US">
                <a:solidFill>
                  <a:schemeClr val="accent2"/>
                </a:solidFill>
              </a:rPr>
              <a:t>因此如何在部分观测下处理复杂任务是难点</a:t>
            </a:r>
            <a:r>
              <a:rPr lang="en-US" altLang="zh-CN">
                <a:solidFill>
                  <a:schemeClr val="accent2"/>
                </a:solidFill>
              </a:rPr>
              <a:t>，</a:t>
            </a:r>
            <a:r>
              <a:rPr lang="zh-CN" altLang="en-US">
                <a:solidFill>
                  <a:schemeClr val="accent2"/>
                </a:solidFill>
              </a:rPr>
              <a:t>热点</a:t>
            </a:r>
            <a:r>
              <a:rPr lang="en-US" altLang="zh-CN">
                <a:solidFill>
                  <a:schemeClr val="accent2"/>
                </a:solidFill>
              </a:rPr>
              <a:t>。</a:t>
            </a:r>
            <a:endParaRPr lang="zh-CN" altLang="en-US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rgbClr val="FF0000"/>
                </a:solidFill>
              </a:rPr>
              <a:t>privileged</a:t>
            </a:r>
            <a:r>
              <a:rPr lang="zh-CN" altLang="en-US">
                <a:solidFill>
                  <a:srgbClr val="FF0000"/>
                </a:solidFill>
              </a:rPr>
              <a:t>观测</a:t>
            </a:r>
            <a:r>
              <a:rPr lang="en-US" altLang="zh-CN"/>
              <a:t>：</a:t>
            </a:r>
            <a:r>
              <a:rPr lang="zh-CN" altLang="en-US"/>
              <a:t>仿真器本身其实提供了全局观测</a:t>
            </a:r>
            <a:r>
              <a:rPr lang="en-US" altLang="zh-CN"/>
              <a:t>，</a:t>
            </a:r>
            <a:r>
              <a:rPr lang="zh-CN" altLang="en-US"/>
              <a:t>虽然我们在现实里无法获取</a:t>
            </a:r>
            <a:r>
              <a:rPr lang="en-US" altLang="zh-CN"/>
              <a:t> </a:t>
            </a:r>
            <a:r>
              <a:rPr lang="zh-CN" altLang="en-US"/>
              <a:t>但是在仿真训练中可以利用这些观测</a:t>
            </a:r>
            <a:r>
              <a:rPr lang="en-US" altLang="zh-CN"/>
              <a:t>，</a:t>
            </a:r>
            <a:r>
              <a:rPr lang="zh-CN" altLang="en-US"/>
              <a:t>来切分任务阶段</a:t>
            </a:r>
            <a:r>
              <a:rPr lang="en-US" altLang="zh-CN"/>
              <a:t> </a:t>
            </a:r>
            <a:r>
              <a:rPr lang="zh-CN" altLang="en-US"/>
              <a:t>获取任务</a:t>
            </a:r>
            <a:r>
              <a:rPr lang="en-US" altLang="zh-CN"/>
              <a:t> </a:t>
            </a:r>
            <a:r>
              <a:rPr lang="zh-CN" altLang="en-US"/>
              <a:t>机器人状态</a:t>
            </a:r>
            <a:r>
              <a:rPr lang="zh-CN" altLang="en-US"/>
              <a:t>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200730"/>
            <a:ext cx="10969200" cy="705600"/>
          </a:xfrm>
        </p:spPr>
        <p:txBody>
          <a:bodyPr/>
          <a:p>
            <a:r>
              <a:rPr lang="en-US" altLang="zh-CN"/>
              <a:t>reward </a:t>
            </a:r>
            <a:r>
              <a:rPr lang="en-US" altLang="zh-CN"/>
              <a:t>shaping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0840" y="906145"/>
            <a:ext cx="11613515" cy="3961765"/>
          </a:xfrm>
        </p:spPr>
        <p:txBody>
          <a:bodyPr>
            <a:normAutofit lnSpcReduction="20000"/>
          </a:bodyPr>
          <a:p>
            <a:r>
              <a:rPr lang="zh-CN" altLang="en-US"/>
              <a:t>我认为这里是</a:t>
            </a:r>
            <a:r>
              <a:rPr lang="en-US" altLang="zh-CN"/>
              <a:t> rl</a:t>
            </a:r>
            <a:r>
              <a:rPr lang="zh-CN" altLang="en-US"/>
              <a:t>的基本功</a:t>
            </a:r>
            <a:r>
              <a:rPr lang="en-US" altLang="zh-CN"/>
              <a:t>，</a:t>
            </a:r>
            <a:r>
              <a:rPr lang="zh-CN" altLang="en-US"/>
              <a:t>要学会像调</a:t>
            </a:r>
            <a:r>
              <a:rPr lang="en-US" altLang="zh-CN"/>
              <a:t>pid</a:t>
            </a:r>
            <a:r>
              <a:rPr lang="zh-CN" altLang="en-US"/>
              <a:t>一样调</a:t>
            </a:r>
            <a:r>
              <a:rPr lang="zh-CN" altLang="en-US"/>
              <a:t>奖励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-----------------------------------------------------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对奖励简单分类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密集奖励</a:t>
            </a:r>
            <a:r>
              <a:rPr lang="en-US" altLang="zh-CN"/>
              <a:t>：</a:t>
            </a:r>
            <a:r>
              <a:rPr lang="zh-CN" altLang="en-US"/>
              <a:t>在每一时刻都计算的奖励</a:t>
            </a:r>
            <a:r>
              <a:rPr lang="en-US" altLang="zh-CN"/>
              <a:t> critic</a:t>
            </a:r>
            <a:r>
              <a:rPr lang="zh-CN" altLang="en-US"/>
              <a:t>能快速学会估计</a:t>
            </a:r>
            <a:r>
              <a:rPr lang="en-US" altLang="zh-CN"/>
              <a:t> </a:t>
            </a:r>
            <a:r>
              <a:rPr lang="zh-CN" altLang="en-US"/>
              <a:t>便于</a:t>
            </a:r>
            <a:r>
              <a:rPr lang="en-US" altLang="zh-CN"/>
              <a:t>actor</a:t>
            </a:r>
            <a:r>
              <a:rPr lang="zh-CN" altLang="en-US"/>
              <a:t>收敛</a:t>
            </a:r>
            <a:r>
              <a:rPr lang="en-US" altLang="zh-CN"/>
              <a:t>，</a:t>
            </a:r>
            <a:r>
              <a:rPr lang="zh-CN" altLang="en-US"/>
              <a:t>是最有效的奖励</a:t>
            </a:r>
            <a:endParaRPr lang="zh-CN" altLang="en-US"/>
          </a:p>
          <a:p>
            <a:r>
              <a:rPr lang="zh-CN" altLang="en-US"/>
              <a:t>稀疏奖励</a:t>
            </a:r>
            <a:r>
              <a:rPr lang="en-US" altLang="zh-CN"/>
              <a:t>：</a:t>
            </a:r>
            <a:r>
              <a:rPr lang="zh-CN" altLang="en-US"/>
              <a:t>某一任务完成才提供的条件性奖励</a:t>
            </a:r>
            <a:r>
              <a:rPr lang="en-US" altLang="zh-CN"/>
              <a:t>  </a:t>
            </a:r>
            <a:r>
              <a:rPr lang="zh-CN" altLang="en-US"/>
              <a:t>由于其稀疏性</a:t>
            </a:r>
            <a:r>
              <a:rPr lang="en-US" altLang="zh-CN"/>
              <a:t>，</a:t>
            </a:r>
            <a:r>
              <a:rPr lang="zh-CN" altLang="en-US"/>
              <a:t>难以学习</a:t>
            </a:r>
            <a:r>
              <a:rPr lang="en-US" altLang="zh-CN"/>
              <a:t>，</a:t>
            </a:r>
            <a:r>
              <a:rPr lang="zh-CN" altLang="en-US"/>
              <a:t>这也就是为什么说稀疏任务</a:t>
            </a:r>
            <a:r>
              <a:rPr lang="en-US" altLang="zh-CN"/>
              <a:t> rl</a:t>
            </a:r>
            <a:r>
              <a:rPr lang="zh-CN" altLang="en-US"/>
              <a:t>采样效率低</a:t>
            </a:r>
            <a:r>
              <a:rPr lang="en-US" altLang="zh-CN"/>
              <a:t>  </a:t>
            </a:r>
            <a:r>
              <a:rPr lang="zh-CN" altLang="en-US"/>
              <a:t>往往需要</a:t>
            </a:r>
            <a:r>
              <a:rPr lang="en-US" altLang="zh-CN"/>
              <a:t>trick</a:t>
            </a:r>
            <a:r>
              <a:rPr lang="zh-CN" altLang="en-US"/>
              <a:t>来处理</a:t>
            </a:r>
            <a:r>
              <a:rPr lang="en-US" altLang="zh-CN"/>
              <a:t> </a:t>
            </a:r>
            <a:endParaRPr lang="en-US" altLang="zh-CN"/>
          </a:p>
          <a:p>
            <a:pPr marL="0" indent="0">
              <a:buNone/>
            </a:pPr>
            <a:r>
              <a:rPr lang="en-US" altLang="zh-CN">
                <a:sym typeface="+mn-ea"/>
              </a:rPr>
              <a:t>-----------------------------------------------------</a:t>
            </a:r>
            <a:endParaRPr lang="en-US" altLang="zh-CN"/>
          </a:p>
          <a:p>
            <a:pPr marL="0" indent="0">
              <a:buNone/>
            </a:pPr>
            <a:r>
              <a:rPr lang="zh-CN" altLang="en-US"/>
              <a:t>在调整奖励过程中</a:t>
            </a:r>
            <a:r>
              <a:rPr lang="en-US" altLang="zh-CN"/>
              <a:t>，</a:t>
            </a:r>
            <a:r>
              <a:rPr lang="zh-CN" altLang="en-US"/>
              <a:t>往往会出现很多欺骗奖励的情况</a:t>
            </a:r>
            <a:r>
              <a:rPr lang="en-US" altLang="zh-CN"/>
              <a:t>，</a:t>
            </a:r>
            <a:r>
              <a:rPr lang="zh-CN" altLang="en-US"/>
              <a:t>类似见招拆招</a:t>
            </a:r>
            <a:r>
              <a:rPr lang="en-US" altLang="zh-CN"/>
              <a:t> </a:t>
            </a:r>
            <a:r>
              <a:rPr lang="zh-CN" altLang="en-US"/>
              <a:t>兵来将挡的感觉</a:t>
            </a:r>
            <a:r>
              <a:rPr lang="en-US" altLang="zh-CN"/>
              <a:t> </a:t>
            </a:r>
            <a:r>
              <a:rPr lang="zh-CN" altLang="en-US"/>
              <a:t>所以很</a:t>
            </a:r>
            <a:r>
              <a:rPr lang="en-US" altLang="zh-CN"/>
              <a:t>engineering  </a:t>
            </a:r>
            <a:r>
              <a:rPr lang="zh-CN" altLang="en-US"/>
              <a:t>长时间调</a:t>
            </a:r>
            <a:r>
              <a:rPr lang="en-US" altLang="zh-CN"/>
              <a:t>reward </a:t>
            </a:r>
            <a:r>
              <a:rPr lang="zh-CN" altLang="en-US"/>
              <a:t>本身的创新性是不够的</a:t>
            </a:r>
            <a:r>
              <a:rPr lang="en-US" altLang="zh-CN"/>
              <a:t> </a:t>
            </a:r>
            <a:r>
              <a:rPr lang="zh-CN" altLang="en-US"/>
              <a:t>但</a:t>
            </a:r>
            <a:r>
              <a:rPr lang="zh-CN" altLang="en-US">
                <a:sym typeface="+mn-ea"/>
              </a:rPr>
              <a:t>经验表明</a:t>
            </a:r>
            <a:r>
              <a:rPr lang="en-US" altLang="zh-CN">
                <a:sym typeface="+mn-ea"/>
              </a:rPr>
              <a:t>，reward </a:t>
            </a:r>
            <a:r>
              <a:rPr lang="zh-CN" altLang="en-US">
                <a:sym typeface="+mn-ea"/>
              </a:rPr>
              <a:t>往往才是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任务好坏的关键</a:t>
            </a:r>
            <a:r>
              <a:rPr lang="en-US" altLang="zh-CN">
                <a:sym typeface="+mn-ea"/>
              </a:rPr>
              <a:t> 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70840" y="4711700"/>
            <a:ext cx="1176782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reward</a:t>
            </a:r>
            <a:r>
              <a:rPr lang="zh-CN" altLang="en-US"/>
              <a:t>是任务的指标</a:t>
            </a:r>
            <a:r>
              <a:rPr lang="en-US" altLang="zh-CN"/>
              <a:t>，</a:t>
            </a:r>
            <a:r>
              <a:rPr lang="zh-CN" altLang="en-US"/>
              <a:t>也就意味着</a:t>
            </a:r>
            <a:r>
              <a:rPr lang="en-US" altLang="zh-CN"/>
              <a:t> </a:t>
            </a:r>
            <a:r>
              <a:rPr lang="en-US" altLang="zh-CN">
                <a:solidFill>
                  <a:srgbClr val="FF0000"/>
                </a:solidFill>
              </a:rPr>
              <a:t>reward</a:t>
            </a:r>
            <a:r>
              <a:rPr lang="zh-CN" altLang="en-US">
                <a:solidFill>
                  <a:srgbClr val="FF0000"/>
                </a:solidFill>
              </a:rPr>
              <a:t>定义任务目标</a:t>
            </a:r>
            <a:r>
              <a:rPr lang="en-US" altLang="zh-CN">
                <a:solidFill>
                  <a:srgbClr val="FF0000"/>
                </a:solidFill>
              </a:rPr>
              <a:t> -&gt; reward</a:t>
            </a:r>
            <a:r>
              <a:rPr lang="zh-CN" altLang="en-US">
                <a:solidFill>
                  <a:srgbClr val="FF0000"/>
                </a:solidFill>
              </a:rPr>
              <a:t>表示设计者的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解决思路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你可以通过</a:t>
            </a:r>
            <a:r>
              <a:rPr lang="en-US" altLang="zh-CN">
                <a:solidFill>
                  <a:srgbClr val="FF0000"/>
                </a:solidFill>
              </a:rPr>
              <a:t>reward</a:t>
            </a:r>
            <a:r>
              <a:rPr lang="zh-CN" altLang="en-US">
                <a:solidFill>
                  <a:srgbClr val="FF0000"/>
                </a:solidFill>
              </a:rPr>
              <a:t>等设置调整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>
                <a:solidFill>
                  <a:srgbClr val="FF0000"/>
                </a:solidFill>
              </a:rPr>
              <a:t>任务的控制范式</a:t>
            </a:r>
            <a:r>
              <a:rPr lang="en-US" altLang="zh-CN">
                <a:solidFill>
                  <a:srgbClr val="FF0000"/>
                </a:solidFill>
              </a:rPr>
              <a:t>  </a:t>
            </a:r>
            <a:endParaRPr lang="en-US" altLang="zh-CN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面对柔顺控制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常规思路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就是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你预测力大小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训练机器人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平滑移动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然后</a:t>
            </a:r>
            <a:r>
              <a:rPr lang="en-US" altLang="zh-CN">
                <a:solidFill>
                  <a:schemeClr val="tx1"/>
                </a:solidFill>
              </a:rPr>
              <a:t>pd </a:t>
            </a:r>
            <a:r>
              <a:rPr lang="zh-CN" altLang="en-US">
                <a:solidFill>
                  <a:schemeClr val="tx1"/>
                </a:solidFill>
              </a:rPr>
              <a:t>控制关节</a:t>
            </a:r>
            <a:r>
              <a:rPr lang="zh-CN" altLang="en-US">
                <a:solidFill>
                  <a:schemeClr val="tx1"/>
                </a:solidFill>
              </a:rPr>
              <a:t>力矩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通过</a:t>
            </a:r>
            <a:r>
              <a:rPr lang="en-US" altLang="zh-CN">
                <a:solidFill>
                  <a:schemeClr val="tx1"/>
                </a:solidFill>
              </a:rPr>
              <a:t>reward</a:t>
            </a:r>
            <a:r>
              <a:rPr lang="zh-CN" altLang="en-US">
                <a:solidFill>
                  <a:schemeClr val="tx1"/>
                </a:solidFill>
              </a:rPr>
              <a:t>调整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可以把任务建模为阻抗控制和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导纳控制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让输出的</a:t>
            </a:r>
            <a:r>
              <a:rPr lang="en-US" altLang="zh-CN">
                <a:solidFill>
                  <a:schemeClr val="tx1"/>
                </a:solidFill>
              </a:rPr>
              <a:t>action </a:t>
            </a:r>
            <a:r>
              <a:rPr lang="zh-CN" altLang="en-US">
                <a:solidFill>
                  <a:schemeClr val="tx1"/>
                </a:solidFill>
              </a:rPr>
              <a:t>贴近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阻抗控制</a:t>
            </a:r>
            <a:r>
              <a:rPr lang="zh-CN" altLang="en-US">
                <a:solidFill>
                  <a:schemeClr val="tx1"/>
                </a:solidFill>
              </a:rPr>
              <a:t>计算出的控制量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18840"/>
            <a:ext cx="10969200" cy="705600"/>
          </a:xfrm>
        </p:spPr>
        <p:txBody>
          <a:bodyPr/>
          <a:p>
            <a:r>
              <a:rPr lang="zh-CN" altLang="en-US"/>
              <a:t>经典</a:t>
            </a:r>
            <a:r>
              <a:rPr lang="zh-CN" altLang="en-US"/>
              <a:t>框架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286510"/>
            <a:ext cx="4201160" cy="899160"/>
          </a:xfrm>
        </p:spPr>
        <p:txBody>
          <a:bodyPr/>
          <a:p>
            <a:r>
              <a:rPr lang="en-US" altLang="zh-CN"/>
              <a:t>teacher-</a:t>
            </a:r>
            <a:r>
              <a:rPr lang="en-US" altLang="zh-CN"/>
              <a:t>student </a:t>
            </a:r>
            <a:endParaRPr lang="en-US" altLang="zh-CN"/>
          </a:p>
        </p:txBody>
      </p:sp>
      <p:pic>
        <p:nvPicPr>
          <p:cNvPr id="4" name="图片 3" descr="截屏2026-07-16 15.34.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475" y="452120"/>
            <a:ext cx="6788150" cy="59537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21005" y="1991360"/>
            <a:ext cx="399605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先训练一个</a:t>
            </a:r>
            <a:r>
              <a:rPr lang="en-US" altLang="zh-CN"/>
              <a:t>teacher a</a:t>
            </a:r>
            <a:r>
              <a:rPr lang="en-US" altLang="zh-CN"/>
              <a:t>ctor：</a:t>
            </a:r>
            <a:endParaRPr lang="en-US" altLang="zh-CN"/>
          </a:p>
          <a:p>
            <a:r>
              <a:rPr lang="zh-CN" altLang="en-US"/>
              <a:t>可以获取</a:t>
            </a:r>
            <a:r>
              <a:rPr lang="en-US" altLang="zh-CN"/>
              <a:t> </a:t>
            </a:r>
            <a:r>
              <a:rPr lang="zh-CN" altLang="en-US"/>
              <a:t>全局信息</a:t>
            </a:r>
            <a:r>
              <a:rPr lang="en-US" altLang="zh-CN"/>
              <a:t> </a:t>
            </a:r>
            <a:r>
              <a:rPr lang="zh-CN" altLang="en-US"/>
              <a:t>包含</a:t>
            </a:r>
            <a:r>
              <a:rPr lang="en-US" altLang="zh-CN"/>
              <a:t>privilege</a:t>
            </a:r>
            <a:r>
              <a:rPr lang="zh-CN" altLang="en-US"/>
              <a:t>信息</a:t>
            </a:r>
            <a:r>
              <a:rPr lang="en-US" altLang="zh-CN"/>
              <a:t>，</a:t>
            </a:r>
            <a:r>
              <a:rPr lang="zh-CN" altLang="en-US"/>
              <a:t>比如</a:t>
            </a:r>
            <a:r>
              <a:rPr lang="en-US" altLang="zh-CN"/>
              <a:t> </a:t>
            </a:r>
            <a:r>
              <a:rPr lang="zh-CN" altLang="en-US"/>
              <a:t>真实无噪声的周围地形图</a:t>
            </a:r>
            <a:r>
              <a:rPr lang="en-US" altLang="zh-CN"/>
              <a:t>，</a:t>
            </a:r>
            <a:r>
              <a:rPr lang="zh-CN" altLang="en-US"/>
              <a:t>实际速度</a:t>
            </a:r>
            <a:r>
              <a:rPr lang="en-US" altLang="zh-CN"/>
              <a:t>（</a:t>
            </a:r>
            <a:r>
              <a:rPr lang="zh-CN" altLang="en-US"/>
              <a:t>即使现实有</a:t>
            </a:r>
            <a:r>
              <a:rPr lang="en-US" altLang="zh-CN"/>
              <a:t>imu </a:t>
            </a:r>
            <a:r>
              <a:rPr lang="zh-CN" altLang="en-US"/>
              <a:t>速度估计也有误差</a:t>
            </a:r>
            <a:r>
              <a:rPr lang="en-US" altLang="zh-CN"/>
              <a:t> </a:t>
            </a:r>
            <a:r>
              <a:rPr lang="zh-CN" altLang="en-US"/>
              <a:t>始终不是真实值</a:t>
            </a:r>
            <a:r>
              <a:rPr lang="en-US" altLang="zh-CN"/>
              <a:t>） </a:t>
            </a:r>
            <a:r>
              <a:rPr lang="zh-CN" altLang="en-US"/>
              <a:t>预先设计的期望落足目标</a:t>
            </a:r>
            <a:r>
              <a:rPr lang="en-US" altLang="zh-CN"/>
              <a:t>  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再训练一个</a:t>
            </a:r>
            <a:r>
              <a:rPr lang="en-US" altLang="zh-CN"/>
              <a:t>student actor：</a:t>
            </a:r>
            <a:endParaRPr lang="en-US" altLang="zh-CN"/>
          </a:p>
          <a:p>
            <a:r>
              <a:rPr lang="zh-CN" altLang="en-US"/>
              <a:t>这个</a:t>
            </a:r>
            <a:r>
              <a:rPr lang="en-US" altLang="zh-CN"/>
              <a:t>actor</a:t>
            </a:r>
            <a:r>
              <a:rPr lang="zh-CN" altLang="en-US"/>
              <a:t>是真正现实世界最后使用的</a:t>
            </a:r>
            <a:r>
              <a:rPr lang="en-US" altLang="zh-CN"/>
              <a:t>：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在仅仅有部分观测的情况下</a:t>
            </a:r>
            <a:r>
              <a:rPr lang="en-US" altLang="zh-CN"/>
              <a:t> ，</a:t>
            </a:r>
            <a:r>
              <a:rPr lang="zh-CN" altLang="en-US"/>
              <a:t>直接去学动作是难度大</a:t>
            </a:r>
            <a:r>
              <a:rPr lang="en-US" altLang="zh-CN"/>
              <a:t>，</a:t>
            </a:r>
            <a:r>
              <a:rPr lang="zh-CN" altLang="en-US"/>
              <a:t>采样效率低的</a:t>
            </a:r>
            <a:r>
              <a:rPr lang="en-US" altLang="zh-CN"/>
              <a:t>，</a:t>
            </a:r>
            <a:r>
              <a:rPr lang="zh-CN" altLang="en-US"/>
              <a:t>因此</a:t>
            </a:r>
            <a:r>
              <a:rPr lang="en-US" altLang="zh-CN"/>
              <a:t> </a:t>
            </a:r>
            <a:r>
              <a:rPr lang="zh-CN" altLang="en-US"/>
              <a:t>先学出</a:t>
            </a:r>
            <a:r>
              <a:rPr lang="en-US" altLang="zh-CN"/>
              <a:t>teacher</a:t>
            </a:r>
            <a:r>
              <a:rPr lang="zh-CN" altLang="en-US"/>
              <a:t>后</a:t>
            </a:r>
            <a:r>
              <a:rPr lang="en-US" altLang="zh-CN"/>
              <a:t>，</a:t>
            </a:r>
            <a:r>
              <a:rPr lang="zh-CN" altLang="en-US"/>
              <a:t>直接让</a:t>
            </a:r>
            <a:r>
              <a:rPr lang="en-US" altLang="zh-CN"/>
              <a:t>student</a:t>
            </a:r>
            <a:r>
              <a:rPr lang="zh-CN" altLang="en-US"/>
              <a:t>去模仿</a:t>
            </a:r>
            <a:r>
              <a:rPr lang="en-US" altLang="zh-CN"/>
              <a:t>teacher </a:t>
            </a:r>
            <a:r>
              <a:rPr lang="zh-CN" altLang="en-US"/>
              <a:t>做</a:t>
            </a:r>
            <a:r>
              <a:rPr lang="en-US" altLang="zh-CN"/>
              <a:t>mse </a:t>
            </a:r>
            <a:r>
              <a:rPr lang="zh-CN" altLang="en-US"/>
              <a:t>学习</a:t>
            </a:r>
            <a:r>
              <a:rPr lang="en-US" altLang="zh-CN"/>
              <a:t>teacher</a:t>
            </a:r>
            <a:r>
              <a:rPr lang="zh-CN" altLang="en-US"/>
              <a:t>分布即可</a:t>
            </a:r>
            <a:r>
              <a:rPr lang="en-US" altLang="zh-CN"/>
              <a:t> 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318840"/>
            <a:ext cx="10969200" cy="705600"/>
          </a:xfrm>
        </p:spPr>
        <p:txBody>
          <a:bodyPr/>
          <a:p>
            <a:r>
              <a:rPr lang="zh-CN" altLang="en-US"/>
              <a:t>经典</a:t>
            </a:r>
            <a:r>
              <a:rPr lang="zh-CN" altLang="en-US"/>
              <a:t>框架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176270" y="318770"/>
            <a:ext cx="4201160" cy="899160"/>
          </a:xfrm>
        </p:spPr>
        <p:txBody>
          <a:bodyPr/>
          <a:p>
            <a:r>
              <a:rPr lang="en-US" altLang="zh-CN"/>
              <a:t>dreamwaq </a:t>
            </a:r>
            <a:r>
              <a:rPr lang="zh-CN" altLang="en-US"/>
              <a:t>一阶段框架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608330" y="1144905"/>
            <a:ext cx="109689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teacher-student </a:t>
            </a:r>
            <a:r>
              <a:rPr lang="zh-CN" altLang="en-US"/>
              <a:t>结构</a:t>
            </a:r>
            <a:r>
              <a:rPr lang="en-US" altLang="zh-CN"/>
              <a:t> student </a:t>
            </a:r>
            <a:r>
              <a:rPr lang="zh-CN" altLang="en-US"/>
              <a:t>完全模仿老师</a:t>
            </a:r>
            <a:r>
              <a:rPr lang="en-US" altLang="zh-CN"/>
              <a:t> </a:t>
            </a:r>
            <a:r>
              <a:rPr lang="zh-CN" altLang="en-US"/>
              <a:t>受困于</a:t>
            </a:r>
            <a:r>
              <a:rPr lang="en-US" altLang="zh-CN"/>
              <a:t>teacher</a:t>
            </a:r>
            <a:r>
              <a:rPr lang="zh-CN" altLang="en-US"/>
              <a:t>的分布</a:t>
            </a:r>
            <a:r>
              <a:rPr lang="en-US" altLang="zh-CN"/>
              <a:t> </a:t>
            </a:r>
            <a:r>
              <a:rPr lang="zh-CN" altLang="en-US"/>
              <a:t>且效果只会比</a:t>
            </a:r>
            <a:r>
              <a:rPr lang="en-US" altLang="zh-CN"/>
              <a:t>teacher</a:t>
            </a:r>
            <a:r>
              <a:rPr lang="zh-CN" altLang="en-US"/>
              <a:t>差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一阶段架构</a:t>
            </a:r>
            <a:r>
              <a:rPr lang="en-US" altLang="zh-CN"/>
              <a:t>： </a:t>
            </a:r>
            <a:r>
              <a:rPr lang="zh-CN" altLang="en-US"/>
              <a:t>核心在于非对称的</a:t>
            </a:r>
            <a:r>
              <a:rPr lang="en-US" altLang="zh-CN"/>
              <a:t>actor -critic critic</a:t>
            </a:r>
            <a:r>
              <a:rPr lang="zh-CN" altLang="en-US"/>
              <a:t>网络获取全局的观测</a:t>
            </a:r>
            <a:r>
              <a:rPr lang="en-US" altLang="zh-CN"/>
              <a:t>，</a:t>
            </a:r>
            <a:r>
              <a:rPr lang="zh-CN" altLang="en-US"/>
              <a:t>可以更好的估计奖励</a:t>
            </a:r>
            <a:r>
              <a:rPr lang="en-US" altLang="zh-CN"/>
              <a:t>，</a:t>
            </a:r>
            <a:r>
              <a:rPr lang="zh-CN" altLang="en-US"/>
              <a:t>而</a:t>
            </a:r>
            <a:r>
              <a:rPr lang="en-US" altLang="zh-CN"/>
              <a:t>actor</a:t>
            </a:r>
            <a:r>
              <a:rPr lang="zh-CN" altLang="en-US"/>
              <a:t>获取局部的观测</a:t>
            </a:r>
            <a:r>
              <a:rPr lang="en-US" altLang="zh-CN"/>
              <a:t> </a:t>
            </a:r>
            <a:r>
              <a:rPr lang="zh-CN" altLang="en-US"/>
              <a:t>在学习中隐性的</a:t>
            </a:r>
            <a:r>
              <a:rPr lang="en-US" altLang="zh-CN"/>
              <a:t> </a:t>
            </a:r>
            <a:r>
              <a:rPr lang="zh-CN" altLang="en-US"/>
              <a:t>获取特权信息</a:t>
            </a:r>
            <a:r>
              <a:rPr lang="en-US" altLang="zh-CN"/>
              <a:t>  </a:t>
            </a:r>
            <a:r>
              <a:rPr lang="zh-CN" altLang="en-US"/>
              <a:t>（比如速度</a:t>
            </a:r>
            <a:r>
              <a:rPr lang="en-US" altLang="zh-CN"/>
              <a:t> </a:t>
            </a:r>
            <a:r>
              <a:rPr lang="zh-CN" altLang="en-US"/>
              <a:t>你获取不了</a:t>
            </a:r>
            <a:r>
              <a:rPr lang="en-US" altLang="zh-CN"/>
              <a:t> </a:t>
            </a:r>
            <a:r>
              <a:rPr lang="zh-CN" altLang="en-US"/>
              <a:t>你完全可以用部分观测估计一个</a:t>
            </a:r>
            <a:r>
              <a:rPr lang="en-US" altLang="zh-CN"/>
              <a:t> </a:t>
            </a:r>
            <a:r>
              <a:rPr lang="zh-CN" altLang="en-US"/>
              <a:t>）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截屏2026-07-16 15.35.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180" y="3225165"/>
            <a:ext cx="8917940" cy="34823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561465" y="2452370"/>
            <a:ext cx="90627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RL</a:t>
            </a:r>
            <a:r>
              <a:rPr lang="zh-CN" altLang="en-US"/>
              <a:t>本身只是你整个</a:t>
            </a:r>
            <a:r>
              <a:rPr lang="en-US" altLang="zh-CN"/>
              <a:t>pipeline </a:t>
            </a:r>
            <a:r>
              <a:rPr lang="zh-CN" altLang="en-US"/>
              <a:t>最后的那些</a:t>
            </a:r>
            <a:r>
              <a:rPr lang="en-US" altLang="zh-CN"/>
              <a:t>loss </a:t>
            </a:r>
            <a:r>
              <a:rPr lang="zh-CN" altLang="en-US"/>
              <a:t>但是如何设计网络提取观测信息</a:t>
            </a:r>
            <a:r>
              <a:rPr lang="en-US" altLang="zh-CN"/>
              <a:t>，</a:t>
            </a:r>
            <a:r>
              <a:rPr lang="zh-CN" altLang="en-US"/>
              <a:t>不同传感器的信息怎么聚合</a:t>
            </a:r>
            <a:r>
              <a:rPr lang="en-US" altLang="zh-CN"/>
              <a:t>，</a:t>
            </a:r>
            <a:r>
              <a:rPr lang="zh-CN" altLang="en-US"/>
              <a:t>怎么利用</a:t>
            </a:r>
            <a:r>
              <a:rPr lang="en-US" altLang="zh-CN"/>
              <a:t>，</a:t>
            </a:r>
            <a:r>
              <a:rPr lang="zh-CN" altLang="en-US"/>
              <a:t>也非常</a:t>
            </a:r>
            <a:r>
              <a:rPr lang="zh-CN" altLang="en-US"/>
              <a:t>关键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2600</Words>
  <Application>WPS 演示</Application>
  <PresentationFormat>宽屏</PresentationFormat>
  <Paragraphs>104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汉仪书宋二KW</vt:lpstr>
      <vt:lpstr>宋体</vt:lpstr>
      <vt:lpstr>Arial Unicode MS</vt:lpstr>
      <vt:lpstr>PingFang SC Semibold</vt:lpstr>
      <vt:lpstr>PingFang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经典框架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王亮</cp:lastModifiedBy>
  <cp:revision>164</cp:revision>
  <dcterms:created xsi:type="dcterms:W3CDTF">2026-07-16T08:04:24Z</dcterms:created>
  <dcterms:modified xsi:type="dcterms:W3CDTF">2026-07-16T08:04:24Z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2052-12.1.25867.25867</vt:lpwstr>
  </property>
  <property fmtid="{D5CDD505-2E9C-101B-9397-08002B2CF9AE}" pid="3" name="ICV">
    <vt:lpwstr>81F9455B206908AC647D576A9CCDBB65_41</vt:lpwstr>
  </property>
</Properties>
</file>